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4" r:id="rId7"/>
    <p:sldId id="262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241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</a:rPr>
              <a:t>Ayodeji Jolaoso  |  KYC Analytics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04A"/>
                </a:solidFill>
              </a:rPr>
              <a:t>KYC Analytics Dashboard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2304A"/>
                </a:solidFill>
              </a:rPr>
              <a:t>for Banking Compliance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13232" y="21488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183B56"/>
                </a:solidFill>
              </a:rPr>
              <a:t>We have identified the risks and spotted documentation gaps. We thus need to prioritize remediation and support audit readiness.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3794760"/>
            <a:ext cx="150876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3904488"/>
            <a:ext cx="54864" cy="69494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39319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04A"/>
                </a:solidFill>
              </a:rPr>
              <a:t>1,000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50976" y="428853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186"/>
                </a:solidFill>
              </a:rPr>
              <a:t>clients reviewed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59152" y="379476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3904488"/>
            <a:ext cx="54864" cy="694944"/>
          </a:xfrm>
          <a:prstGeom prst="rect">
            <a:avLst/>
          </a:prstGeom>
          <a:solidFill>
            <a:srgbClr val="1F9D8B"/>
          </a:solidFill>
          <a:ln w="12700">
            <a:solidFill>
              <a:srgbClr val="1F9D8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393192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04A"/>
                </a:solidFill>
              </a:rPr>
              <a:t>16,807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96896" y="4288536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186"/>
                </a:solidFill>
              </a:rPr>
              <a:t>documents tracked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96512" y="379476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87952" y="3904488"/>
            <a:ext cx="54864" cy="694944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34256" y="393192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04A"/>
                </a:solidFill>
              </a:rPr>
              <a:t>41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34256" y="4288536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186"/>
                </a:solidFill>
              </a:rPr>
              <a:t>high-risk clients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5074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B7186"/>
                </a:solidFill>
              </a:rPr>
              <a:t>Tools: Power BI, DAX, Excel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B7186"/>
                </a:solidFill>
              </a:rPr>
              <a:t>Dataset: synthetic corporate-banking KYC records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5669280" y="868680"/>
            <a:ext cx="5806440" cy="5440680"/>
          </a:xfrm>
          <a:prstGeom prst="roundRect">
            <a:avLst>
              <a:gd name="adj" fmla="val 1008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22" name="Image 1" descr="/mnt/data/kyc_story_assets2/risk_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973897"/>
            <a:ext cx="2630300" cy="2095874"/>
          </a:xfrm>
          <a:prstGeom prst="rect">
            <a:avLst/>
          </a:prstGeom>
        </p:spPr>
      </p:pic>
      <p:pic>
        <p:nvPicPr>
          <p:cNvPr id="23" name="Image 2" descr="/mnt/data/kyc_story_assets2/completeness_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99" y="3362333"/>
            <a:ext cx="2686809" cy="1643401"/>
          </a:xfrm>
          <a:prstGeom prst="rect">
            <a:avLst/>
          </a:prstGeom>
        </p:spPr>
      </p:pic>
      <p:pic>
        <p:nvPicPr>
          <p:cNvPr id="24" name="Image 3" descr="/mnt/data/kyc_story_assets2/action_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3295647"/>
            <a:ext cx="2630300" cy="171008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4B10576-0DDC-1FBF-2878-EEBF0A568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2302" y="973897"/>
            <a:ext cx="2808107" cy="20958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</a:rPr>
              <a:t>Ayodeji Jolaoso  |  KYC Analytics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04A"/>
                </a:solidFill>
              </a:rPr>
              <a:t>What is business question?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284732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4840" y="1600200"/>
            <a:ext cx="3627120" cy="1508760"/>
          </a:xfrm>
          <a:prstGeom prst="roundRect">
            <a:avLst>
              <a:gd name="adj" fmla="val 3636"/>
            </a:avLst>
          </a:prstGeom>
          <a:solidFill>
            <a:srgbClr val="F2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465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A"/>
                </a:solidFill>
              </a:rPr>
              <a:t>Why we care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2020824"/>
            <a:ext cx="34411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20" dirty="0">
                <a:solidFill>
                  <a:srgbClr val="183B56"/>
                </a:solidFill>
              </a:rPr>
              <a:t>We cannot onboard or retain our clients safely if we  cannot quickly see who is high risk, which files are incomplete and where review work is piling up.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58368" y="3337560"/>
            <a:ext cx="3474720" cy="1508760"/>
          </a:xfrm>
          <a:prstGeom prst="roundRect">
            <a:avLst>
              <a:gd name="adj" fmla="val 3636"/>
            </a:avLst>
          </a:prstGeom>
          <a:solidFill>
            <a:srgbClr val="F2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838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A"/>
                </a:solidFill>
              </a:rPr>
              <a:t>What message is being conveyed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758184"/>
            <a:ext cx="318211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83B56"/>
                </a:solidFill>
              </a:rPr>
              <a:t>The simple action: who needs review now, which files need remediation and what should happen next.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4526280" y="1234440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284732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The workflow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057400"/>
            <a:ext cx="1828800" cy="868680"/>
          </a:xfrm>
          <a:prstGeom prst="chevron">
            <a:avLst/>
          </a:prstGeom>
          <a:solidFill>
            <a:srgbClr val="EAF3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2677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4A"/>
                </a:solidFill>
              </a:rPr>
              <a:t>1. Segment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304A"/>
                </a:solidFill>
              </a:rPr>
              <a:t>customer risk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46520" y="2057400"/>
            <a:ext cx="1828800" cy="868680"/>
          </a:xfrm>
          <a:prstGeom prst="chevron">
            <a:avLst/>
          </a:prstGeom>
          <a:solidFill>
            <a:srgbClr val="E9F8F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2677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4A"/>
                </a:solidFill>
              </a:rPr>
              <a:t>2. Check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304A"/>
                </a:solidFill>
              </a:rPr>
              <a:t>document health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21040" y="2057400"/>
            <a:ext cx="1828800" cy="868680"/>
          </a:xfrm>
          <a:prstGeom prst="chevron">
            <a:avLst/>
          </a:prstGeom>
          <a:solidFill>
            <a:srgbClr val="FFF6E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2677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04A"/>
                </a:solidFill>
              </a:rPr>
              <a:t>3. Prioritise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304A"/>
                </a:solidFill>
              </a:rPr>
              <a:t>remediation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195560" y="2057400"/>
            <a:ext cx="1417320" cy="868680"/>
          </a:xfrm>
          <a:prstGeom prst="chevron">
            <a:avLst/>
          </a:prstGeom>
          <a:solidFill>
            <a:srgbClr val="FCEC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14432" y="22677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304A"/>
                </a:solidFill>
              </a:rPr>
              <a:t>4. Improve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2304A"/>
                </a:solidFill>
              </a:rPr>
              <a:t>audit readiness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4526280" y="3703320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753612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35659" y="3881628"/>
            <a:ext cx="616305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Shows the importance of KYC risk scoring, document review and remediation work flow to aid daily operational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</a:rPr>
              <a:t>Ayodeji Jolaoso  |  KYC Analytics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9455"/>
            <a:ext cx="7955280" cy="566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04A"/>
                </a:solidFill>
              </a:rPr>
              <a:t>The Question: How healthy is the book overall 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44168"/>
            <a:ext cx="54864" cy="64922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37160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04A"/>
                </a:solidFill>
              </a:rPr>
              <a:t>92.1%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96112" y="172821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186"/>
                </a:solidFill>
              </a:rPr>
              <a:t>average completeness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123444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344168"/>
            <a:ext cx="54864" cy="64922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9464" y="1371600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04A"/>
                </a:solidFill>
              </a:rPr>
              <a:t>720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9464" y="1728216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186"/>
                </a:solidFill>
              </a:rPr>
              <a:t>low-risk clients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67912" y="12344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59352" y="1344168"/>
            <a:ext cx="54864" cy="64922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05656" y="137160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04A"/>
                </a:solidFill>
              </a:rPr>
              <a:t>239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05656" y="172821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186"/>
                </a:solidFill>
              </a:rPr>
              <a:t>medium-risk clients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49824" y="123444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41264" y="1344168"/>
            <a:ext cx="54864" cy="649224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7568" y="13716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04A"/>
                </a:solidFill>
              </a:rPr>
              <a:t>41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87568" y="172821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186"/>
                </a:solidFill>
              </a:rPr>
              <a:t>high-risk clients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40296" y="121158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31736" y="1344168"/>
            <a:ext cx="54864" cy="649224"/>
          </a:xfrm>
          <a:prstGeom prst="rect">
            <a:avLst/>
          </a:prstGeom>
          <a:solidFill>
            <a:srgbClr val="1F9D8B"/>
          </a:solidFill>
          <a:ln w="12700">
            <a:solidFill>
              <a:srgbClr val="1F9D8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1371600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04A"/>
                </a:solidFill>
              </a:rPr>
              <a:t>99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78040" y="1728216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186"/>
                </a:solidFill>
              </a:rPr>
              <a:t>PEP-linked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85048" y="123444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76488" y="1344168"/>
            <a:ext cx="54864" cy="64922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22792" y="13716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04A"/>
                </a:solidFill>
              </a:rPr>
              <a:t>593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622792" y="172821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186"/>
                </a:solidFill>
              </a:rPr>
              <a:t>watchlist files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039614" y="1228842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04120" y="1344168"/>
            <a:ext cx="54864" cy="649224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50424" y="13716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04A"/>
                </a:solidFill>
              </a:rPr>
              <a:t>69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250424" y="172821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186"/>
                </a:solidFill>
              </a:rPr>
              <a:t>need remediation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8368" y="2331720"/>
            <a:ext cx="525780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36" name="Image 0" descr="/mnt/data/kyc_story_assets2/risk_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78281"/>
            <a:ext cx="4800600" cy="3027317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6172200" y="2331720"/>
            <a:ext cx="2788920" cy="356616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38" name="Image 1" descr="/mnt/data/kyc_story_assets2/completeness_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386584"/>
            <a:ext cx="2788920" cy="2962655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9281160" y="2331720"/>
            <a:ext cx="2240280" cy="1554480"/>
          </a:xfrm>
          <a:prstGeom prst="roundRect">
            <a:avLst>
              <a:gd name="adj" fmla="val 3529"/>
            </a:avLst>
          </a:prstGeom>
          <a:solidFill>
            <a:srgbClr val="F2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281160" y="24505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A"/>
                </a:solidFill>
              </a:rPr>
              <a:t>The takeaway</a:t>
            </a:r>
            <a:endParaRPr lang="en-US" sz="1250" dirty="0"/>
          </a:p>
        </p:txBody>
      </p:sp>
      <p:sp>
        <p:nvSpPr>
          <p:cNvPr id="41" name="Text 37"/>
          <p:cNvSpPr/>
          <p:nvPr/>
        </p:nvSpPr>
        <p:spPr>
          <a:xfrm>
            <a:off x="9281160" y="2633472"/>
            <a:ext cx="2112264" cy="107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83B56"/>
                </a:solidFill>
              </a:rPr>
              <a:t>Most clients are low risk, but a small high-risk segment still deserves close monitoring because those cases can carry disproportionate regulatory exposure.</a:t>
            </a:r>
            <a:endParaRPr lang="en-US" sz="1220" dirty="0"/>
          </a:p>
        </p:txBody>
      </p:sp>
      <p:sp>
        <p:nvSpPr>
          <p:cNvPr id="42" name="Shape 38"/>
          <p:cNvSpPr/>
          <p:nvPr/>
        </p:nvSpPr>
        <p:spPr>
          <a:xfrm>
            <a:off x="9281160" y="4160520"/>
            <a:ext cx="2240280" cy="1554480"/>
          </a:xfrm>
          <a:prstGeom prst="roundRect">
            <a:avLst>
              <a:gd name="adj" fmla="val 3529"/>
            </a:avLst>
          </a:prstGeom>
          <a:solidFill>
            <a:srgbClr val="F2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9445752" y="430682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A"/>
                </a:solidFill>
              </a:rPr>
              <a:t>What we need to do</a:t>
            </a:r>
            <a:endParaRPr lang="en-US" sz="1250" dirty="0"/>
          </a:p>
        </p:txBody>
      </p:sp>
      <p:sp>
        <p:nvSpPr>
          <p:cNvPr id="44" name="Text 40"/>
          <p:cNvSpPr/>
          <p:nvPr/>
        </p:nvSpPr>
        <p:spPr>
          <a:xfrm>
            <a:off x="9445752" y="4471416"/>
            <a:ext cx="19476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83B56"/>
                </a:solidFill>
              </a:rPr>
              <a:t>Use the risk mix to assess resources, then use completeness status to decide which files can move forward and which need remediation first.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</a:rPr>
              <a:t>Ayodeji Jolaoso  |  KYC Analytics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04A"/>
                </a:solidFill>
              </a:rPr>
              <a:t>The main bottleneck is document gap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</a:rPr>
              <a:t>Once risk is understood, the next question is whether the supporting documentation is usable.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44168"/>
            <a:ext cx="54864" cy="64922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37160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04A"/>
                </a:solidFill>
              </a:rPr>
              <a:t>9,575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96112" y="172821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186"/>
                </a:solidFill>
              </a:rPr>
              <a:t>verified docs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32304" y="123444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23744" y="1344168"/>
            <a:ext cx="54864" cy="64922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0048" y="137160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04A"/>
                </a:solidFill>
              </a:rPr>
              <a:t>5,709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70048" y="172821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186"/>
                </a:solidFill>
              </a:rPr>
              <a:t>pending verification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12344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344168"/>
            <a:ext cx="54864" cy="649224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137160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04A"/>
                </a:solidFill>
              </a:rPr>
              <a:t>1,523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35424" y="1728216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186"/>
                </a:solidFill>
              </a:rPr>
              <a:t>failed verification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25896" y="123444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17336" y="1344168"/>
            <a:ext cx="54864" cy="649224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37160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2304A"/>
                </a:solidFill>
              </a:rPr>
              <a:t>10,545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63640" y="172821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7186"/>
                </a:solidFill>
              </a:rPr>
              <a:t>expired docs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2331720"/>
            <a:ext cx="4928196" cy="3538719"/>
          </a:xfrm>
          <a:prstGeom prst="roundRect">
            <a:avLst>
              <a:gd name="adj" fmla="val 101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098280" y="2331720"/>
            <a:ext cx="2423160" cy="1645920"/>
          </a:xfrm>
          <a:prstGeom prst="roundRect">
            <a:avLst>
              <a:gd name="adj" fmla="val 3333"/>
            </a:avLst>
          </a:prstGeom>
          <a:solidFill>
            <a:srgbClr val="F2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262872" y="247802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A"/>
                </a:solidFill>
              </a:rPr>
              <a:t>The takeaway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9262872" y="2752344"/>
            <a:ext cx="21305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83B56"/>
                </a:solidFill>
              </a:rPr>
              <a:t>The bigger issue is not just missing documents. A large share of the documents book is expired or still waiting for verification, which slows onboarding and periodic review.</a:t>
            </a:r>
            <a:endParaRPr lang="en-US" sz="1220" dirty="0"/>
          </a:p>
        </p:txBody>
      </p:sp>
      <p:sp>
        <p:nvSpPr>
          <p:cNvPr id="30" name="Shape 26"/>
          <p:cNvSpPr/>
          <p:nvPr/>
        </p:nvSpPr>
        <p:spPr>
          <a:xfrm>
            <a:off x="9098280" y="4224528"/>
            <a:ext cx="2423160" cy="1645920"/>
          </a:xfrm>
          <a:prstGeom prst="roundRect">
            <a:avLst>
              <a:gd name="adj" fmla="val 3333"/>
            </a:avLst>
          </a:prstGeom>
          <a:solidFill>
            <a:srgbClr val="F2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262872" y="437083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A"/>
                </a:solidFill>
              </a:rPr>
              <a:t>Operational meaning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9262872" y="4645152"/>
            <a:ext cx="21305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83B56"/>
                </a:solidFill>
              </a:rPr>
              <a:t>This explains the backlogs and where we need process improvement, refreshes, follow-ups and review quality.</a:t>
            </a:r>
            <a:endParaRPr lang="en-US" sz="122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721D6E5-4368-D78C-0695-A94A7541C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89" y="2414016"/>
            <a:ext cx="4650128" cy="345642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A052235-E63D-C7B8-AECB-A34A672A6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009" y="2414015"/>
            <a:ext cx="3503271" cy="34564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</a:rPr>
              <a:t>Ayodeji Jolaoso  |  KYC Analytics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04A"/>
                </a:solidFill>
              </a:rPr>
              <a:t>High risk clients are not evenly distributed across sectors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</a:rPr>
              <a:t>EDD is concentrated in in Art/Jewelry dealers and </a:t>
            </a:r>
            <a:r>
              <a:rPr lang="en-US" sz="1150" dirty="0" err="1">
                <a:solidFill>
                  <a:srgbClr val="5B7186"/>
                </a:solidFill>
              </a:rPr>
              <a:t>MSBs</a:t>
            </a:r>
            <a:r>
              <a:rPr lang="en-US" sz="1150" dirty="0">
                <a:solidFill>
                  <a:srgbClr val="5B7186"/>
                </a:solidFill>
              </a:rPr>
              <a:t>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55780" y="1536192"/>
            <a:ext cx="5340220" cy="3360418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508760"/>
            <a:ext cx="1325880" cy="256032"/>
          </a:xfrm>
          <a:prstGeom prst="roundRect">
            <a:avLst>
              <a:gd name="adj" fmla="val 25000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1559052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What this means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01968" y="1975104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48272" y="1920240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3B56"/>
                </a:solidFill>
              </a:rPr>
              <a:t>Art/Jewelry Dealers and Money Service Businesses show the highest share of high-risk clients in this portfolio.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699439"/>
            <a:ext cx="73152" cy="731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39338" y="2587752"/>
            <a:ext cx="4517509" cy="74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3B56"/>
                </a:solidFill>
              </a:rPr>
              <a:t>That does not mean every customer in those sectors is problematic; it means those sectors may need stronger screening and review controls.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01968" y="4187952"/>
            <a:ext cx="4663440" cy="1417320"/>
          </a:xfrm>
          <a:prstGeom prst="roundRect">
            <a:avLst>
              <a:gd name="adj" fmla="val 3871"/>
            </a:avLst>
          </a:prstGeom>
          <a:solidFill>
            <a:srgbClr val="F2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433425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A"/>
                </a:solidFill>
              </a:rPr>
              <a:t>The takeaway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766560" y="4608576"/>
            <a:ext cx="43708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83B56"/>
                </a:solidFill>
              </a:rPr>
              <a:t>We need tighter onboarding rules, more EDD for the top two client categories.</a:t>
            </a:r>
            <a:endParaRPr lang="en-US" sz="122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8CA2B35-66E5-BCFB-3445-9CF6D8E00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80" y="1508760"/>
            <a:ext cx="5340220" cy="33878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action queue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8961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what do we do now?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944" y="1243584"/>
            <a:ext cx="5440680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270829"/>
            <a:ext cx="5413248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Clients that need remediation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51560" y="1965960"/>
            <a:ext cx="0" cy="2651760"/>
          </a:xfrm>
          <a:prstGeom prst="line">
            <a:avLst/>
          </a:prstGeom>
          <a:noFill/>
          <a:ln w="12700">
            <a:solidFill>
              <a:srgbClr val="AEB8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4617720"/>
            <a:ext cx="4572000" cy="0"/>
          </a:xfrm>
          <a:prstGeom prst="line">
            <a:avLst/>
          </a:prstGeom>
          <a:noFill/>
          <a:ln w="12700">
            <a:solidFill>
              <a:srgbClr val="AEB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54456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10260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6064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20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2186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77672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40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33476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50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189280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</a:rPr>
              <a:t>60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83080" y="2231136"/>
            <a:ext cx="1005840" cy="2386584"/>
          </a:xfrm>
          <a:prstGeom prst="rect">
            <a:avLst/>
          </a:prstGeom>
          <a:solidFill>
            <a:srgbClr val="5B8CC9"/>
          </a:solidFill>
          <a:ln w="12700">
            <a:solidFill>
              <a:srgbClr val="4F81B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33147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F3F3F"/>
                </a:solidFill>
              </a:rPr>
              <a:t>54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91640" y="47365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65656"/>
                </a:solidFill>
              </a:rPr>
              <a:t>Low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0" y="3954780"/>
            <a:ext cx="1005840" cy="662940"/>
          </a:xfrm>
          <a:prstGeom prst="rect">
            <a:avLst/>
          </a:prstGeom>
          <a:solidFill>
            <a:srgbClr val="5B8CC9"/>
          </a:solidFill>
          <a:ln w="12700">
            <a:solidFill>
              <a:srgbClr val="4F81B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417652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F3F3F"/>
                </a:solidFill>
              </a:rPr>
              <a:t>15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06240" y="47365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65656"/>
                </a:solidFill>
              </a:rPr>
              <a:t>Medium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6384" y="5303520"/>
            <a:ext cx="932688" cy="292608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385816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</a:rPr>
              <a:t>Risk Tier ▼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28232" y="1353312"/>
            <a:ext cx="2139696" cy="1261872"/>
          </a:xfrm>
          <a:prstGeom prst="roundRect">
            <a:avLst>
              <a:gd name="adj" fmla="val 4348"/>
            </a:avLst>
          </a:prstGeom>
          <a:solidFill>
            <a:srgbClr val="EEF3F8"/>
          </a:solidFill>
          <a:ln w="12700">
            <a:solidFill>
              <a:srgbClr val="C9D5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149961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A5E"/>
                </a:solidFill>
              </a:rPr>
              <a:t>69 Clients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92824" y="1792224"/>
            <a:ext cx="1828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64B6F"/>
                </a:solidFill>
              </a:rPr>
              <a:t>need remediation. These Clients have missing, expired or failed documents that prevent their files from being treated as complete.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842248" y="1353312"/>
            <a:ext cx="2249424" cy="1261872"/>
          </a:xfrm>
          <a:prstGeom prst="roundRect">
            <a:avLst>
              <a:gd name="adj" fmla="val 4348"/>
            </a:avLst>
          </a:prstGeom>
          <a:solidFill>
            <a:srgbClr val="EEF3F8"/>
          </a:solidFill>
          <a:ln w="12700">
            <a:solidFill>
              <a:srgbClr val="C9D5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0" y="14996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A5E"/>
                </a:solidFill>
              </a:rPr>
              <a:t>15 Clients 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06840" y="1792224"/>
            <a:ext cx="193852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64B6F"/>
                </a:solidFill>
              </a:rPr>
              <a:t>need faster review because they sit in the medium-risk bucket and still carry unresolved document gaps.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28232" y="2862072"/>
            <a:ext cx="4663440" cy="1481328"/>
          </a:xfrm>
          <a:prstGeom prst="roundRect">
            <a:avLst>
              <a:gd name="adj" fmla="val 3704"/>
            </a:avLst>
          </a:prstGeom>
          <a:solidFill>
            <a:srgbClr val="EEF3F8"/>
          </a:solidFill>
          <a:ln w="12700">
            <a:solidFill>
              <a:srgbClr val="C9D5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92824" y="3008376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A5E"/>
                </a:solidFill>
              </a:rPr>
              <a:t>The takeaway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92824" y="3300984"/>
            <a:ext cx="435254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64B6F"/>
                </a:solidFill>
              </a:rPr>
              <a:t>Prioritise the 15 medium-risk files first, then clear the 54 low-risk files in batches. Monitor overdue documents, failed verification, PEP links and ageing remediation items until closure.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28232" y="4581144"/>
            <a:ext cx="4663440" cy="1024128"/>
          </a:xfrm>
          <a:prstGeom prst="roundRect">
            <a:avLst>
              <a:gd name="adj" fmla="val 5357"/>
            </a:avLst>
          </a:prstGeom>
          <a:solidFill>
            <a:srgbClr val="EEF3F8"/>
          </a:solidFill>
          <a:ln w="12700">
            <a:solidFill>
              <a:srgbClr val="C9D5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92824" y="472744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A5E"/>
                </a:solidFill>
              </a:rPr>
              <a:t>How can we use this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92824" y="5020056"/>
            <a:ext cx="435254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64B6F"/>
                </a:solidFill>
              </a:rPr>
              <a:t>Assign medium-risk cases to senior analysts, batch low-risk fixes, and track weekly progress by owner, ageing, and closure rate.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201400" cy="0"/>
          </a:xfrm>
          <a:prstGeom prst="line">
            <a:avLst/>
          </a:prstGeom>
          <a:noFill/>
          <a:ln w="12700">
            <a:solidFill>
              <a:srgbClr val="D7E3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64008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9"/>
                </a:solidFill>
              </a:rPr>
              <a:t>Ayodeji Jolaoso | KYC Analytics Portfolio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64099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</a:rPr>
              <a:t>Ayodeji Jolaoso  |  KYC Analytics Portfolio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04A"/>
                </a:solidFill>
              </a:rPr>
              <a:t>Recommended actions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2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636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A"/>
                </a:solidFill>
              </a:rPr>
              <a:t>1. Clean the backlog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1837944"/>
            <a:ext cx="24505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83B56"/>
                </a:solidFill>
              </a:rPr>
              <a:t>Start with files that combine high-risk or PEP signals with document issues. Those are the cases most likely to concern compliance management and auditors.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3639312" y="141732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2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15636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A"/>
                </a:solidFill>
              </a:rPr>
              <a:t>2. Automate follow-ups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03904" y="1837944"/>
            <a:ext cx="24505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83B56"/>
                </a:solidFill>
              </a:rPr>
              <a:t>Use reminders and workflow controls for pending and expiring documents so analysts spend less time chasing routine updates manually.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620256" y="141732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2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15636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A"/>
                </a:solidFill>
              </a:rPr>
              <a:t>3. Improve document standards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84848" y="1837944"/>
            <a:ext cx="24505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83B56"/>
                </a:solidFill>
              </a:rPr>
              <a:t>High expired and failed-document volumes suggest a need for better submission guidance, stronger validation checks and earlier quality review.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01200" y="1417320"/>
            <a:ext cx="1920240" cy="1417320"/>
          </a:xfrm>
          <a:prstGeom prst="roundRect">
            <a:avLst>
              <a:gd name="adj" fmla="val 3871"/>
            </a:avLst>
          </a:prstGeom>
          <a:solidFill>
            <a:srgbClr val="F2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65792" y="156362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A"/>
                </a:solidFill>
              </a:rPr>
              <a:t>4. Report weekly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765792" y="1837944"/>
            <a:ext cx="16276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83B56"/>
                </a:solidFill>
              </a:rPr>
              <a:t>Track remediation by queue, owner and status so progress is visible.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73D9"/>
          </a:solidFill>
          <a:ln w="12700">
            <a:solidFill>
              <a:srgbClr val="2F73D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8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actions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2788920" cy="1536192"/>
          </a:xfrm>
          <a:prstGeom prst="roundRect">
            <a:avLst>
              <a:gd name="adj" fmla="val 3571"/>
            </a:avLst>
          </a:prstGeom>
          <a:solidFill>
            <a:srgbClr val="E9EEF4"/>
          </a:solidFill>
          <a:ln w="12700">
            <a:solidFill>
              <a:srgbClr val="C9D4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Triage immediately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65376"/>
            <a:ext cx="2496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A4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all PEP-linked, failed-verification and ageing files to the front of the queue. These are the cases with the highest regulatory exposure.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75888" y="1426464"/>
            <a:ext cx="2788920" cy="1536192"/>
          </a:xfrm>
          <a:prstGeom prst="roundRect">
            <a:avLst>
              <a:gd name="adj" fmla="val 3571"/>
            </a:avLst>
          </a:prstGeom>
          <a:solidFill>
            <a:srgbClr val="E9EEF4"/>
          </a:solidFill>
          <a:ln w="12700">
            <a:solidFill>
              <a:srgbClr val="C9D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5727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Clear the backlog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1865376"/>
            <a:ext cx="2496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A4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the remaining remediation files in controlled batches with named owners, due dates and clear closure standards.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93408" y="1426464"/>
            <a:ext cx="2788920" cy="1536192"/>
          </a:xfrm>
          <a:prstGeom prst="roundRect">
            <a:avLst>
              <a:gd name="adj" fmla="val 3571"/>
            </a:avLst>
          </a:prstGeom>
          <a:solidFill>
            <a:srgbClr val="E9EEF4"/>
          </a:solidFill>
          <a:ln w="12700">
            <a:solidFill>
              <a:srgbClr val="C9D4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5727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Tighten controls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1865376"/>
            <a:ext cx="2496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A4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intake checks, verification rules and expiry monitoring to stop repeat document exceptions entering the process.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710928" y="1426464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E9EEF4"/>
          </a:solidFill>
          <a:ln w="12700">
            <a:solidFill>
              <a:srgbClr val="C9D4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0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Report weekly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75520" y="1865376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A48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ageing, overdue items, PEP files, failed verification and closure rates so management sees progress early.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6492240"/>
            <a:ext cx="10972800" cy="0"/>
          </a:xfrm>
          <a:prstGeom prst="line">
            <a:avLst/>
          </a:prstGeom>
          <a:noFill/>
          <a:ln w="12700">
            <a:solidFill>
              <a:srgbClr val="C7D8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95"/>
                </a:solidFill>
              </a:rPr>
              <a:t>Ayodeji Jolaoso | KYC Analytics Portfolio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4509</TotalTime>
  <Words>806</Words>
  <Application>Microsoft Office PowerPoint</Application>
  <PresentationFormat>Widescreen</PresentationFormat>
  <Paragraphs>125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KYC Analytics Dashboard for Banking Compliance</dc:title>
  <dc:subject>KYC Analytics Storytelling Deck</dc:subject>
  <dc:creator>OpenAI</dc:creator>
  <cp:lastModifiedBy>Ayodeji Jolaoso</cp:lastModifiedBy>
  <cp:revision>4</cp:revision>
  <dcterms:created xsi:type="dcterms:W3CDTF">2026-03-17T17:57:12Z</dcterms:created>
  <dcterms:modified xsi:type="dcterms:W3CDTF">2026-03-26T17:33:01Z</dcterms:modified>
</cp:coreProperties>
</file>